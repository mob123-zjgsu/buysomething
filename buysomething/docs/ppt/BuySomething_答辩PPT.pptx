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3" d="100"/>
          <a:sy n="123" d="100"/>
        </p:scale>
        <p:origin x="106" y="13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68818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720000">
            <a:off x="-914400" y="0"/>
            <a:ext cx="3657600" cy="5143500"/>
          </a:xfrm>
          <a:prstGeom prst="rect">
            <a:avLst/>
          </a:prstGeom>
          <a:solidFill>
            <a:srgbClr val="F96167">
              <a:alpha val="8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400800" y="-914400"/>
            <a:ext cx="3657600" cy="3657600"/>
          </a:xfrm>
          <a:prstGeom prst="ellipse">
            <a:avLst/>
          </a:prstGeom>
          <a:solidFill>
            <a:srgbClr val="2F3C7E">
              <a:alpha val="8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BuySomething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457200" y="21031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F961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校园二手交易平台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200400" y="2834640"/>
            <a:ext cx="2743200" cy="36576"/>
          </a:xfrm>
          <a:prstGeom prst="rect">
            <a:avLst/>
          </a:prstGeom>
          <a:solidFill>
            <a:srgbClr val="FFD93D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30175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BBBBB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基于微信云开发的综合性电商系统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BBBBB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
</a:t>
            </a:r>
            <a:r>
              <a:rPr lang="en-US" sz="1800" dirty="0">
                <a:solidFill>
                  <a:srgbClr val="BBBBB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项目答辩汇报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2026年5月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2F3C7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目录 / 项目进展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CONTENTS &amp; PROGRESS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502920" cy="50292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463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88720" y="144475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项目概述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88720" y="179222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BuySomething 简介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2606040"/>
            <a:ext cx="502920" cy="50292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606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88720" y="258775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功能展示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188720" y="293522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三端功能演示截图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3749040"/>
            <a:ext cx="502920" cy="50292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3749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88720" y="373075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技术架构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188720" y="407822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云函数与数据库设计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846320" y="1463040"/>
            <a:ext cx="502920" cy="50292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8" name="Text 16"/>
          <p:cNvSpPr/>
          <p:nvPr/>
        </p:nvSpPr>
        <p:spPr>
          <a:xfrm>
            <a:off x="4846320" y="1463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486400" y="144475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工作分工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5486400" y="179222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团队成员贡献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846320" y="2606040"/>
            <a:ext cx="502920" cy="50292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22" name="Text 20"/>
          <p:cNvSpPr/>
          <p:nvPr/>
        </p:nvSpPr>
        <p:spPr>
          <a:xfrm>
            <a:off x="4846320" y="2606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486400" y="258775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未来规划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5486400" y="293522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P1/P2 功能路线图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7200" y="48920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BuySomething 校园二手交易平台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2F3C7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 项目概述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PROJECT OVERVIEW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4114800" cy="32918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554480"/>
            <a:ext cx="374904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2F3C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什么是 BuySomething？
</a:t>
            </a:r>
            <a:r>
              <a:rPr lang="en-US" sz="130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一款基于</a:t>
            </a:r>
            <a:r>
              <a:rPr lang="en-US" sz="1300" b="1" dirty="0">
                <a:solidFill>
                  <a:srgbClr val="F961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微信小程序</a:t>
            </a:r>
            <a:r>
              <a:rPr lang="en-US" sz="130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的校园二手交易平台，采用</a:t>
            </a:r>
            <a:r>
              <a:rPr lang="en-US" sz="1300" b="1" dirty="0">
                <a:solidFill>
                  <a:srgbClr val="F961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腾讯云开发</a:t>
            </a:r>
            <a:r>
              <a:rPr lang="en-US" sz="130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架构。
</a:t>
            </a:r>
            <a:r>
              <a:rPr lang="en-US" sz="1500" b="1" dirty="0">
                <a:solidFill>
                  <a:srgbClr val="2F3C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核心定位
</a:t>
            </a:r>
            <a:r>
              <a:rPr lang="en-US" sz="125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为校园用户提供便捷的商品交易服务，支持商家入驻、商品管理、订单处理等完整电商流程。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4846320" y="1417320"/>
            <a:ext cx="3840480" cy="960120"/>
          </a:xfrm>
          <a:prstGeom prst="rect">
            <a:avLst/>
          </a:prstGeom>
          <a:solidFill>
            <a:srgbClr val="F96167"/>
          </a:solidFill>
          <a:ln/>
          <a:effectLst>
            <a:outerShdw blurRad="76200" dist="25400" dir="162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0" y="1490472"/>
            <a:ext cx="1097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6217920" y="1508760"/>
            <a:ext cx="2286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角色类型</a:t>
            </a:r>
            <a:r>
              <a:rPr lang="en-US" sz="15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
</a:t>
            </a:r>
            <a:r>
              <a:rPr lang="en-US" sz="1050" dirty="0">
                <a:solidFill>
                  <a:srgbClr val="DDDD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用户/商家/管理员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846320" y="2514600"/>
            <a:ext cx="3840480" cy="960120"/>
          </a:xfrm>
          <a:prstGeom prst="rect">
            <a:avLst/>
          </a:prstGeom>
          <a:solidFill>
            <a:srgbClr val="2F3C7E"/>
          </a:solidFill>
          <a:ln/>
          <a:effectLst>
            <a:outerShdw blurRad="76200" dist="25400" dir="162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0" y="2587752"/>
            <a:ext cx="1097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6217920" y="2606040"/>
            <a:ext cx="2286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云函数</a:t>
            </a:r>
            <a:r>
              <a:rPr lang="en-US" sz="15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
</a:t>
            </a:r>
            <a:r>
              <a:rPr lang="en-US" sz="1050" dirty="0">
                <a:solidFill>
                  <a:srgbClr val="DDDD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后端业务逻辑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846320" y="3611880"/>
            <a:ext cx="3840480" cy="960120"/>
          </a:xfrm>
          <a:prstGeom prst="rect">
            <a:avLst/>
          </a:prstGeom>
          <a:solidFill>
            <a:srgbClr val="FFD93D"/>
          </a:solidFill>
          <a:ln/>
          <a:effectLst>
            <a:outerShdw blurRad="76200" dist="25400" dir="162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029200" y="3685032"/>
            <a:ext cx="1097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6217920" y="3703320"/>
            <a:ext cx="2286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数据库集合</a:t>
            </a:r>
            <a:r>
              <a:rPr lang="en-US" sz="15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
</a:t>
            </a:r>
            <a:r>
              <a:rPr lang="en-US" sz="1050" dirty="0">
                <a:solidFill>
                  <a:srgbClr val="DDDD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数据存储设计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57200" y="48920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BuySomething 校园二手交易平台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2F3C7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 已实现功能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IMPLEMENTED FEATURES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2743200" cy="34290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371600"/>
            <a:ext cx="2743200" cy="438912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389888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用户端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02920" y="192024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账号密码/验证码登录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02920" y="2450592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商品浏览/搜索/分类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02920" y="2980944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购物车 &amp; 下单购买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02920" y="3511296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个人中心 &amp; 订单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02920" y="4041648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智能客服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246120" y="1371600"/>
            <a:ext cx="2743200" cy="34290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46120" y="1371600"/>
            <a:ext cx="2743200" cy="438912"/>
          </a:xfrm>
          <a:prstGeom prst="rect">
            <a:avLst/>
          </a:prstGeom>
          <a:solidFill>
            <a:srgbClr val="2F3C7E"/>
          </a:solidFill>
          <a:ln/>
        </p:spPr>
      </p:sp>
      <p:sp>
        <p:nvSpPr>
          <p:cNvPr id="15" name="Text 13"/>
          <p:cNvSpPr/>
          <p:nvPr/>
        </p:nvSpPr>
        <p:spPr>
          <a:xfrm>
            <a:off x="3246120" y="1389888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商家端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383280" y="192024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商家注册申请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3383280" y="2450592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密码/验证码登录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3383280" y="2980944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添加商品(待审核)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3383280" y="3511296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商品列表管理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3383280" y="4041648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销售统计查看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126480" y="1371600"/>
            <a:ext cx="2743200" cy="34290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126480" y="1371600"/>
            <a:ext cx="2743200" cy="438912"/>
          </a:xfrm>
          <a:prstGeom prst="rect">
            <a:avLst/>
          </a:prstGeom>
          <a:solidFill>
            <a:srgbClr val="FFD93D"/>
          </a:solidFill>
          <a:ln/>
        </p:spPr>
      </p:sp>
      <p:sp>
        <p:nvSpPr>
          <p:cNvPr id="23" name="Text 21"/>
          <p:cNvSpPr/>
          <p:nvPr/>
        </p:nvSpPr>
        <p:spPr>
          <a:xfrm>
            <a:off x="6126480" y="1389888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管理员端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263640" y="192024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管理员登录验证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263640" y="2450592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商家入驻审核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6263640" y="2980944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商品上架审核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6263640" y="3511296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数据统计面板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6263640" y="4041648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平台全局管理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457200" y="48920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BuySomething 校园二手交易平台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2F3C7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 功能演示 — 管理员端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ADMIN DASHBOARD</a:t>
            </a:r>
            <a:endParaRPr lang="en-US" sz="1400" dirty="0"/>
          </a:p>
        </p:txBody>
      </p:sp>
      <p:pic>
        <p:nvPicPr>
          <p:cNvPr id="5" name="Image 0" descr="f:\code\buysomething\docs\ppt\图片\屏幕截图 2026-05-12 23074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696686"/>
            <a:ext cx="2560320" cy="424107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65760" y="495604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管理后台主页</a:t>
            </a:r>
            <a:endParaRPr lang="en-US" sz="1000" dirty="0"/>
          </a:p>
        </p:txBody>
      </p:sp>
      <p:pic>
        <p:nvPicPr>
          <p:cNvPr id="7" name="Image 1" descr="f:\code\buysomething\docs\ppt\图片\屏幕截图 2026-05-12 23063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0" y="634482"/>
            <a:ext cx="2560320" cy="430327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200400" y="495604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商品审核页面</a:t>
            </a:r>
            <a:endParaRPr lang="en-US" sz="1000" dirty="0"/>
          </a:p>
        </p:txBody>
      </p:sp>
      <p:sp>
        <p:nvSpPr>
          <p:cNvPr id="9" name="Shape 5"/>
          <p:cNvSpPr/>
          <p:nvPr/>
        </p:nvSpPr>
        <p:spPr>
          <a:xfrm>
            <a:off x="6035040" y="1371600"/>
            <a:ext cx="2834640" cy="35661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6"/>
          <p:cNvSpPr/>
          <p:nvPr/>
        </p:nvSpPr>
        <p:spPr>
          <a:xfrm>
            <a:off x="6217920" y="1508760"/>
            <a:ext cx="246888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2F3C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核心能力
</a:t>
            </a:r>
            <a:r>
              <a:rPr lang="en-US" sz="1200" b="1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数据统计看板
</a:t>
            </a:r>
            <a:endParaRPr lang="en-US" sz="1500" dirty="0"/>
          </a:p>
          <a:p>
            <a:pPr marL="0" indent="0">
              <a:buNone/>
            </a:pPr>
            <a:r>
              <a:rPr lang="en-US" sz="105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实时展示商家数、商品数、用户数
</a:t>
            </a:r>
            <a:r>
              <a:rPr lang="en-US" sz="1200" b="1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商家审核
</a:t>
            </a:r>
            <a:endParaRPr lang="en-US" sz="1500" dirty="0"/>
          </a:p>
          <a:p>
            <a:pPr marL="0" indent="0">
              <a:buNone/>
            </a:pPr>
            <a:r>
              <a:rPr lang="en-US" sz="105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审核新注册商家申请
</a:t>
            </a:r>
            <a:r>
              <a:rPr lang="en-US" sz="1200" b="1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商品审核
</a:t>
            </a:r>
            <a:endParaRPr lang="en-US" sz="1500" dirty="0"/>
          </a:p>
          <a:p>
            <a:pPr marL="0" indent="0">
              <a:buNone/>
            </a:pPr>
            <a:r>
              <a:rPr lang="en-US" sz="105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审核商家上架商品，通过/拒绝
</a:t>
            </a:r>
            <a:r>
              <a:rPr lang="en-US" sz="1200" b="1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权限管理
</a:t>
            </a:r>
            <a:endParaRPr lang="en-US" sz="1500" dirty="0"/>
          </a:p>
          <a:p>
            <a:pPr marL="0" indent="0">
              <a:buNone/>
            </a:pPr>
            <a:r>
              <a:rPr lang="en-US" sz="105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商家、商品、订单全量管理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457200" y="48920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BuySomething 校园二手交易平台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2F3C7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 功能演示 — 商家端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MERCHANT PORTAL</a:t>
            </a:r>
            <a:endParaRPr lang="en-US" sz="1400" dirty="0"/>
          </a:p>
        </p:txBody>
      </p:sp>
      <p:pic>
        <p:nvPicPr>
          <p:cNvPr id="5" name="Image 0" descr="f:\code\buysomething\docs\ppt\图片\屏幕截图 2026-05-12 23082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371600"/>
            <a:ext cx="2560320" cy="35661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65760" y="495604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商家工作台</a:t>
            </a:r>
            <a:endParaRPr lang="en-US" sz="1000" dirty="0"/>
          </a:p>
        </p:txBody>
      </p:sp>
      <p:pic>
        <p:nvPicPr>
          <p:cNvPr id="7" name="Image 1" descr="f:\code\buysomething\docs\ppt\图片\屏幕截图 2026-05-12 23083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0" y="1371600"/>
            <a:ext cx="2560320" cy="35661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200400" y="495604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上架商品表单</a:t>
            </a:r>
            <a:endParaRPr lang="en-US" sz="1000" dirty="0"/>
          </a:p>
        </p:txBody>
      </p:sp>
      <p:sp>
        <p:nvSpPr>
          <p:cNvPr id="9" name="Shape 5"/>
          <p:cNvSpPr/>
          <p:nvPr/>
        </p:nvSpPr>
        <p:spPr>
          <a:xfrm>
            <a:off x="6035040" y="1371600"/>
            <a:ext cx="2834640" cy="35661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6"/>
          <p:cNvSpPr/>
          <p:nvPr/>
        </p:nvSpPr>
        <p:spPr>
          <a:xfrm>
            <a:off x="6217920" y="1508760"/>
            <a:ext cx="246888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2F3C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核心能力
</a:t>
            </a:r>
            <a:r>
              <a:rPr lang="en-US" sz="1200" b="1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商家工作台
</a:t>
            </a:r>
            <a:endParaRPr lang="en-US" sz="1500" dirty="0"/>
          </a:p>
          <a:p>
            <a:pPr marL="0" indent="0">
              <a:buNone/>
            </a:pPr>
            <a:r>
              <a:rPr lang="en-US" sz="105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待审核/已上架商品一览
</a:t>
            </a:r>
            <a:r>
              <a:rPr lang="en-US" sz="1200" b="1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商品发布
</a:t>
            </a:r>
            <a:endParaRPr lang="en-US" sz="1500" dirty="0"/>
          </a:p>
          <a:p>
            <a:pPr marL="0" indent="0">
              <a:buNone/>
            </a:pPr>
            <a:r>
              <a:rPr lang="en-US" sz="105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填写名称/价格/描述/库存
提交后进入审核队列
</a:t>
            </a:r>
            <a:r>
              <a:rPr lang="en-US" sz="1200" b="1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订单管理
</a:t>
            </a:r>
            <a:endParaRPr lang="en-US" sz="1500" dirty="0"/>
          </a:p>
          <a:p>
            <a:pPr marL="0" indent="0">
              <a:buNone/>
            </a:pPr>
            <a:r>
              <a:rPr lang="en-US" sz="105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查看并处理用户订单
</a:t>
            </a:r>
            <a:r>
              <a:rPr lang="en-US" sz="1200" b="1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销售统计
</a:t>
            </a:r>
            <a:endParaRPr lang="en-US" sz="1500" dirty="0"/>
          </a:p>
          <a:p>
            <a:pPr marL="0" indent="0">
              <a:buNone/>
            </a:pPr>
            <a:r>
              <a:rPr lang="en-US" sz="105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销量与收入数据分析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457200" y="48920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BuySomething 校园二手交易平台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2F3C7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 功能演示 — 用户端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USER EXPERIENCE</a:t>
            </a:r>
            <a:endParaRPr lang="en-US" sz="1400" dirty="0"/>
          </a:p>
        </p:txBody>
      </p:sp>
      <p:pic>
        <p:nvPicPr>
          <p:cNvPr id="5" name="Image 0" descr="f:\code\buysomething\docs\ppt\图片\屏幕截图 2026-05-12 23103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371600"/>
            <a:ext cx="2560320" cy="35661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65760" y="495604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首页 — 热门推荐</a:t>
            </a:r>
            <a:endParaRPr lang="en-US" sz="1000" dirty="0"/>
          </a:p>
        </p:txBody>
      </p:sp>
      <p:pic>
        <p:nvPicPr>
          <p:cNvPr id="7" name="Image 1" descr="f:\code\buysomething\docs\ppt\图片\屏幕截图 2026-05-12 23124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0" y="1371600"/>
            <a:ext cx="2560320" cy="35661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200400" y="495604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分类浏览</a:t>
            </a:r>
            <a:endParaRPr lang="en-US" sz="1000" dirty="0"/>
          </a:p>
        </p:txBody>
      </p:sp>
      <p:sp>
        <p:nvSpPr>
          <p:cNvPr id="9" name="Shape 5"/>
          <p:cNvSpPr/>
          <p:nvPr/>
        </p:nvSpPr>
        <p:spPr>
          <a:xfrm>
            <a:off x="6035040" y="1371600"/>
            <a:ext cx="2834640" cy="35661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6"/>
          <p:cNvSpPr/>
          <p:nvPr/>
        </p:nvSpPr>
        <p:spPr>
          <a:xfrm>
            <a:off x="6217920" y="1508760"/>
            <a:ext cx="246888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2F3C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核心体验
</a:t>
            </a:r>
            <a:r>
              <a:rPr lang="en-US" sz="1200" b="1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首页推荐
</a:t>
            </a:r>
            <a:endParaRPr lang="en-US" sz="1500" dirty="0"/>
          </a:p>
          <a:p>
            <a:pPr marL="0" indent="0">
              <a:buNone/>
            </a:pPr>
            <a:r>
              <a:rPr lang="en-US" sz="105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Banner轮播 + 热门分类入口
热门推荐商品瀑布流
</a:t>
            </a:r>
            <a:r>
              <a:rPr lang="en-US" sz="1200" b="1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分类导航
</a:t>
            </a:r>
            <a:endParaRPr lang="en-US" sz="1500" dirty="0"/>
          </a:p>
          <a:p>
            <a:pPr marL="0" indent="0">
              <a:buNone/>
            </a:pPr>
            <a:r>
              <a:rPr lang="en-US" sz="105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女装/男装/内衣/母婴等
多级分类快速筛选
</a:t>
            </a:r>
            <a:r>
              <a:rPr lang="en-US" sz="1200" b="1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搜索功能
</a:t>
            </a:r>
            <a:endParaRPr lang="en-US" sz="1500" dirty="0"/>
          </a:p>
          <a:p>
            <a:pPr marL="0" indent="0">
              <a:buNone/>
            </a:pPr>
            <a:r>
              <a:rPr lang="en-US" sz="105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关键词模糊搜索商品
</a:t>
            </a:r>
            <a:r>
              <a:rPr lang="en-US" sz="1200" b="1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购物车 &amp; 订单
</a:t>
            </a:r>
            <a:endParaRPr lang="en-US" sz="1500" dirty="0"/>
          </a:p>
          <a:p>
            <a:pPr marL="0" indent="0">
              <a:buNone/>
            </a:pPr>
            <a:r>
              <a:rPr lang="en-US" sz="105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完整的下单购买流程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457200" y="48920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BuySomething 校园二手交易平台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2F3C7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 功能演示 — 详情 &amp; AI客服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DETAIL PAGE &amp; AI CHAT</a:t>
            </a:r>
            <a:endParaRPr lang="en-US" sz="1400" dirty="0"/>
          </a:p>
        </p:txBody>
      </p:sp>
      <p:pic>
        <p:nvPicPr>
          <p:cNvPr id="5" name="Image 0" descr="f:\code\buysomething\docs\ppt\图片\屏幕截图 2026-05-12 23131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371600"/>
            <a:ext cx="2560320" cy="35661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65760" y="495604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商品详情页</a:t>
            </a:r>
            <a:endParaRPr lang="en-US" sz="1000" dirty="0"/>
          </a:p>
        </p:txBody>
      </p:sp>
      <p:pic>
        <p:nvPicPr>
          <p:cNvPr id="7" name="Image 1" descr="f:\code\buysomething\docs\ppt\图片\屏幕截图 2026-05-12 23133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0" y="1371600"/>
            <a:ext cx="2560320" cy="35661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200400" y="495604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智能客服</a:t>
            </a:r>
            <a:endParaRPr lang="en-US" sz="1000" dirty="0"/>
          </a:p>
        </p:txBody>
      </p:sp>
      <p:sp>
        <p:nvSpPr>
          <p:cNvPr id="9" name="Shape 5"/>
          <p:cNvSpPr/>
          <p:nvPr/>
        </p:nvSpPr>
        <p:spPr>
          <a:xfrm>
            <a:off x="6035040" y="1371600"/>
            <a:ext cx="2834640" cy="35661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6"/>
          <p:cNvSpPr/>
          <p:nvPr/>
        </p:nvSpPr>
        <p:spPr>
          <a:xfrm>
            <a:off x="6217920" y="1508760"/>
            <a:ext cx="246888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2F3C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特色功能
</a:t>
            </a:r>
            <a:r>
              <a:rPr lang="en-US" sz="1200" b="1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商品详情
</a:t>
            </a:r>
            <a:endParaRPr lang="en-US" sz="1500" dirty="0"/>
          </a:p>
          <a:p>
            <a:pPr marL="0" indent="0">
              <a:buNone/>
            </a:pPr>
            <a:r>
              <a:rPr lang="en-US" sz="105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大图展示 + 规格选择
颜色/尺寸/数量选择
一键加入购物车
</a:t>
            </a:r>
            <a:r>
              <a:rPr lang="en-US" sz="1200" b="1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智能客服
</a:t>
            </a:r>
            <a:endParaRPr lang="en-US" sz="1500" dirty="0"/>
          </a:p>
          <a:p>
            <a:pPr marL="0" indent="0">
              <a:buNone/>
            </a:pPr>
            <a:r>
              <a:rPr lang="en-US" sz="105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接入 DeepSeek AI 模型</a:t>
            </a:r>
            <a:endParaRPr lang="en-US" sz="1500" dirty="0"/>
          </a:p>
          <a:p>
            <a:pPr marL="0" indent="0">
              <a:buNone/>
            </a:pPr>
            <a:r>
              <a:rPr lang="en-US" sz="105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自动回答商品咨询</a:t>
            </a:r>
            <a:endParaRPr lang="en-US" sz="1500" dirty="0"/>
          </a:p>
          <a:p>
            <a:pPr marL="0" indent="0">
              <a:buNone/>
            </a:pPr>
            <a:r>
              <a:rPr lang="en-US" sz="105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提供尺码推荐建议</a:t>
            </a:r>
            <a:endParaRPr lang="en-US" sz="1500" dirty="0"/>
          </a:p>
          <a:p>
            <a:pPr marL="0" indent="0">
              <a:buNone/>
            </a:pPr>
            <a:r>
              <a:rPr lang="en-US" sz="105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7x24小时在线服务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457200" y="48920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BuySomething 校园二手交易平台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2F3C7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 技术架构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TECHNICAL ARCHITECTURE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5029200" cy="749808"/>
          </a:xfrm>
          <a:prstGeom prst="rect">
            <a:avLst/>
          </a:prstGeom>
          <a:solidFill>
            <a:srgbClr val="F96167"/>
          </a:solidFill>
          <a:ln/>
          <a:effectLst>
            <a:outerShdw blurRad="76200" dist="25400" dir="162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463040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前端层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920240" y="1463040"/>
            <a:ext cx="3383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WXML + WXSS + JS | 微信小程序原生开发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926080" y="2167128"/>
            <a:ext cx="0" cy="146304"/>
          </a:xfrm>
          <a:prstGeom prst="line">
            <a:avLst/>
          </a:prstGeom>
          <a:noFill/>
          <a:ln w="19050">
            <a:solidFill>
              <a:srgbClr val="636E72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457200" y="2313432"/>
            <a:ext cx="5029200" cy="749808"/>
          </a:xfrm>
          <a:prstGeom prst="rect">
            <a:avLst/>
          </a:prstGeom>
          <a:solidFill>
            <a:srgbClr val="0984E3"/>
          </a:solidFill>
          <a:ln/>
          <a:effectLst>
            <a:outerShdw blurRad="76200" dist="25400" dir="162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0080" y="2359152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SDK 层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920240" y="2359152"/>
            <a:ext cx="3383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@cloudbase/js-sdk | wx.cloud 云开发 SDK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926080" y="3063240"/>
            <a:ext cx="0" cy="146304"/>
          </a:xfrm>
          <a:prstGeom prst="line">
            <a:avLst/>
          </a:prstGeom>
          <a:noFill/>
          <a:ln w="19050">
            <a:solidFill>
              <a:srgbClr val="636E72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457200" y="3209544"/>
            <a:ext cx="5029200" cy="749808"/>
          </a:xfrm>
          <a:prstGeom prst="rect">
            <a:avLst/>
          </a:prstGeom>
          <a:solidFill>
            <a:srgbClr val="2F3C7E"/>
          </a:solidFill>
          <a:ln/>
          <a:effectLst>
            <a:outerShdw blurRad="76200" dist="25400" dir="162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0080" y="3255264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计算层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920240" y="3255264"/>
            <a:ext cx="3383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 个云函数 (Serverless) | 业务逻辑处理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26080" y="3959352"/>
            <a:ext cx="0" cy="146304"/>
          </a:xfrm>
          <a:prstGeom prst="line">
            <a:avLst/>
          </a:prstGeom>
          <a:noFill/>
          <a:ln w="19050">
            <a:solidFill>
              <a:srgbClr val="636E72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457200" y="4105656"/>
            <a:ext cx="5029200" cy="749808"/>
          </a:xfrm>
          <a:prstGeom prst="rect">
            <a:avLst/>
          </a:prstGeom>
          <a:solidFill>
            <a:srgbClr val="00B894"/>
          </a:solidFill>
          <a:ln/>
          <a:effectLst>
            <a:outerShdw blurRad="76200" dist="25400" dir="162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40080" y="4151376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存储层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920240" y="4151376"/>
            <a:ext cx="3383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NoSQL 数据库 + 云存储 | 数据持久化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760720" y="1417320"/>
            <a:ext cx="3108960" cy="35204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943600" y="1536192"/>
            <a:ext cx="274320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2F3C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安全体系
</a:t>
            </a:r>
            <a:r>
              <a:rPr lang="en-US" sz="1200" b="1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密码安全
</a:t>
            </a:r>
            <a:endParaRPr lang="en-US" sz="1500" dirty="0"/>
          </a:p>
          <a:p>
            <a:pPr marL="0" indent="0">
              <a:buNone/>
            </a:pPr>
            <a:r>
              <a:rPr lang="en-US" sz="105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MD5 + Salt 多次哈希
防彩虹表攻击
</a:t>
            </a:r>
            <a:r>
              <a:rPr lang="en-US" sz="1200" b="1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数据库权限
</a:t>
            </a:r>
            <a:endParaRPr lang="en-US" sz="1500" dirty="0"/>
          </a:p>
          <a:p>
            <a:pPr marL="0" indent="0">
              <a:buNone/>
            </a:pPr>
            <a:r>
              <a:rPr lang="en-US" sz="105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全部私有集合
仅云函数可读写
</a:t>
            </a:r>
            <a:r>
              <a:rPr lang="en-US" sz="1200" b="1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CI/CD 安全扫描
</a:t>
            </a:r>
            <a:endParaRPr lang="en-US" sz="1500" dirty="0"/>
          </a:p>
          <a:p>
            <a:pPr marL="0" indent="0">
              <a:buNone/>
            </a:pPr>
            <a:r>
              <a:rPr lang="en-US" sz="105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Gitleaks 密钥检测</a:t>
            </a:r>
            <a:endParaRPr lang="en-US" sz="1500" dirty="0"/>
          </a:p>
          <a:p>
            <a:pPr marL="0" indent="0">
              <a:buNone/>
            </a:pPr>
            <a:r>
              <a:rPr lang="en-US" sz="105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npm audit 漏洞扫描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57200" y="48920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BuySomething 校园二手交易平台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2F3C7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 后端 — 云函数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CLOUD FUNCTIONS (16)</a:t>
            </a:r>
            <a:endParaRPr lang="en-US" sz="14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371600"/>
          <a:ext cx="8412480" cy="4440555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4005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类别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C7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云函数名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C7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功能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C7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005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D34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
用户认证
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D34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
register / login / sendSmsCode
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D34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
注册、登录、验证码发送
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005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D34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
商家认证
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D34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
merchant-register / merchant-login
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D34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
商家注册申请、商家登录
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005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D34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
商品管理
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D34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
products / product-detail / add-product
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D34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
商品CRUD、搜索、分页
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005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D34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
订单购物车
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D34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
cart / orders
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D34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
购物车操作、订单管理
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005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D34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
管理后台
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D34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
admin-login / admin-dashboard
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D34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
管理员登录、审核、统计
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005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D34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
AI 客服
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D34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
ai-chat
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D34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
DeepSeek AI 智能问答
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4005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D34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
工具类
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D34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
delete-product / getOpenId
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D34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
删除商品、获取OpenID
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48920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BuySomething 校园二手交易平台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2F3C7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 后端 — 数据库设计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DATABASE COLLECTIONS (6)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274320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371600"/>
            <a:ext cx="2743200" cy="54864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50876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F3C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18288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用户信息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2176272"/>
            <a:ext cx="2468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34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phone, password(MD5), points, balance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91840" y="1371600"/>
            <a:ext cx="274320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91840" y="1371600"/>
            <a:ext cx="2743200" cy="54864"/>
          </a:xfrm>
          <a:prstGeom prst="rect">
            <a:avLst/>
          </a:prstGeom>
          <a:solidFill>
            <a:srgbClr val="2F3C7E"/>
          </a:solidFill>
          <a:ln/>
        </p:spPr>
      </p:sp>
      <p:sp>
        <p:nvSpPr>
          <p:cNvPr id="12" name="Text 10"/>
          <p:cNvSpPr/>
          <p:nvPr/>
        </p:nvSpPr>
        <p:spPr>
          <a:xfrm>
            <a:off x="3429000" y="150876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F3C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merchants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429000" y="18288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商家信息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429000" y="2176272"/>
            <a:ext cx="2468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34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merchantName, phone, status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217920" y="1371600"/>
            <a:ext cx="274320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17920" y="1371600"/>
            <a:ext cx="2743200" cy="54864"/>
          </a:xfrm>
          <a:prstGeom prst="rect">
            <a:avLst/>
          </a:prstGeom>
          <a:solidFill>
            <a:srgbClr val="0984E3"/>
          </a:solidFill>
          <a:ln/>
        </p:spPr>
      </p:sp>
      <p:sp>
        <p:nvSpPr>
          <p:cNvPr id="17" name="Text 15"/>
          <p:cNvSpPr/>
          <p:nvPr/>
        </p:nvSpPr>
        <p:spPr>
          <a:xfrm>
            <a:off x="6355080" y="150876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F3C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355080" y="18288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商品信息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355080" y="2176272"/>
            <a:ext cx="2468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34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name, price, stock, status, merchantId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65760" y="3200400"/>
            <a:ext cx="274320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200400"/>
            <a:ext cx="2743200" cy="54864"/>
          </a:xfrm>
          <a:prstGeom prst="rect">
            <a:avLst/>
          </a:prstGeom>
          <a:solidFill>
            <a:srgbClr val="00B894"/>
          </a:solidFill>
          <a:ln/>
        </p:spPr>
      </p:sp>
      <p:sp>
        <p:nvSpPr>
          <p:cNvPr id="22" name="Text 20"/>
          <p:cNvSpPr/>
          <p:nvPr/>
        </p:nvSpPr>
        <p:spPr>
          <a:xfrm>
            <a:off x="502920" y="333756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F3C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02920" y="36576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订单记录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02920" y="4005072"/>
            <a:ext cx="2468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34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orderNo, items, totalAmount, status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291840" y="3200400"/>
            <a:ext cx="274320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91840" y="3200400"/>
            <a:ext cx="2743200" cy="54864"/>
          </a:xfrm>
          <a:prstGeom prst="rect">
            <a:avLst/>
          </a:prstGeom>
          <a:solidFill>
            <a:srgbClr val="E17055"/>
          </a:solidFill>
          <a:ln/>
        </p:spPr>
      </p:sp>
      <p:sp>
        <p:nvSpPr>
          <p:cNvPr id="27" name="Text 25"/>
          <p:cNvSpPr/>
          <p:nvPr/>
        </p:nvSpPr>
        <p:spPr>
          <a:xfrm>
            <a:off x="3429000" y="333756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F3C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cart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429000" y="36576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购物车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429000" y="4005072"/>
            <a:ext cx="2468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34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userId, productId, quantity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217920" y="3200400"/>
            <a:ext cx="274320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217920" y="3200400"/>
            <a:ext cx="2743200" cy="54864"/>
          </a:xfrm>
          <a:prstGeom prst="rect">
            <a:avLst/>
          </a:prstGeom>
          <a:solidFill>
            <a:srgbClr val="A29BFE"/>
          </a:solidFill>
          <a:ln/>
        </p:spPr>
      </p:sp>
      <p:sp>
        <p:nvSpPr>
          <p:cNvPr id="32" name="Text 30"/>
          <p:cNvSpPr/>
          <p:nvPr/>
        </p:nvSpPr>
        <p:spPr>
          <a:xfrm>
            <a:off x="6355080" y="333756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F3C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sms_codes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355080" y="36576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验证码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355080" y="4005072"/>
            <a:ext cx="2468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34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phone, code, expiresAt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457200" y="48920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BuySomething 校园二手交易平台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2F3C7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 工作分工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TEAM CONTRIBUTION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4114800" cy="35204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371600"/>
            <a:ext cx="4114800" cy="457200"/>
          </a:xfrm>
          <a:prstGeom prst="rect">
            <a:avLst/>
          </a:prstGeom>
          <a:solidFill>
            <a:srgbClr val="2F3C7E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389888"/>
            <a:ext cx="4114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后端工作 (Backend)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1920240"/>
            <a:ext cx="374904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云函数开发 (16个)
</a:t>
            </a:r>
            <a:endParaRPr lang="en-US" sz="1200" dirty="0"/>
          </a:p>
          <a:p>
            <a:pPr marL="0" indent="0">
              <a:buNone/>
            </a:pPr>
            <a:r>
              <a:rPr lang="en-US" sz="105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用户/商家认证系统
订单/购物车逻辑
AI 客服接入 DeepSeek
管理员审核系统
</a:t>
            </a:r>
            <a:r>
              <a:rPr lang="en-US" sz="1200" b="1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数据库设计
</a:t>
            </a:r>
            <a:endParaRPr lang="en-US" sz="1200" dirty="0"/>
          </a:p>
          <a:p>
            <a:pPr marL="0" indent="0">
              <a:buNone/>
            </a:pPr>
            <a:r>
              <a:rPr lang="en-US" sz="105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6个集合结构设计
字段规范定义
权限安全策略
</a:t>
            </a:r>
            <a:r>
              <a:rPr lang="en-US" sz="1200" b="1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DevOps &amp; 安全
</a:t>
            </a:r>
            <a:endParaRPr lang="en-US" sz="1200" dirty="0"/>
          </a:p>
          <a:p>
            <a:pPr marL="0" indent="0">
              <a:buNone/>
            </a:pPr>
            <a:r>
              <a:rPr lang="en-US" sz="105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GitHub Actions CI/CD</a:t>
            </a:r>
            <a:endParaRPr lang="en-US" sz="1200" dirty="0"/>
          </a:p>
          <a:p>
            <a:pPr marL="0" indent="0">
              <a:buNone/>
            </a:pPr>
            <a:r>
              <a:rPr lang="en-US" sz="105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Gitleaks 密钥扫描</a:t>
            </a:r>
            <a:endParaRPr lang="en-US" sz="1200" dirty="0"/>
          </a:p>
          <a:p>
            <a:pPr marL="0" indent="0">
              <a:buNone/>
            </a:pPr>
            <a:r>
              <a:rPr lang="en-US" sz="105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ESLint 代码规范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663440" y="1371600"/>
            <a:ext cx="4114800" cy="35204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1371600"/>
            <a:ext cx="4114800" cy="45720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11" name="Text 9"/>
          <p:cNvSpPr/>
          <p:nvPr/>
        </p:nvSpPr>
        <p:spPr>
          <a:xfrm>
            <a:off x="4663440" y="1389888"/>
            <a:ext cx="4114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前端工作 (Frontend)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846320" y="1920240"/>
            <a:ext cx="374904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页面开发 (~40个页面)
</a:t>
            </a:r>
            <a:endParaRPr lang="en-US" sz="1200" dirty="0"/>
          </a:p>
          <a:p>
            <a:pPr marL="0" indent="0">
              <a:buNone/>
            </a:pPr>
            <a:r>
              <a:rPr lang="en-US" sz="105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用户端：首页/详情/购物车/订单
商家端：工作台/商品管理/统计
管理端：审核/统计面板
AI客服对话界面
</a:t>
            </a:r>
            <a:r>
              <a:rPr lang="en-US" sz="1200" b="1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交互与样式
</a:t>
            </a:r>
            <a:endParaRPr lang="en-US" sz="1200" dirty="0"/>
          </a:p>
          <a:p>
            <a:pPr marL="0" indent="0">
              <a:buNone/>
            </a:pPr>
            <a:r>
              <a:rPr lang="en-US" sz="105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WXSS 样式设计</a:t>
            </a:r>
            <a:endParaRPr lang="en-US" sz="1200" dirty="0"/>
          </a:p>
          <a:p>
            <a:pPr marL="0" indent="0">
              <a:buNone/>
            </a:pPr>
            <a:r>
              <a:rPr lang="en-US" sz="105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表单交互验证</a:t>
            </a:r>
            <a:endParaRPr lang="en-US" sz="1200" dirty="0"/>
          </a:p>
          <a:p>
            <a:pPr marL="0" indent="0">
              <a:buNone/>
            </a:pPr>
            <a:r>
              <a:rPr lang="en-US" sz="105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状态管理与跳转</a:t>
            </a:r>
            <a:endParaRPr lang="en-US" sz="1200" dirty="0"/>
          </a:p>
          <a:p>
            <a:pPr marL="0" indent="0">
              <a:buNone/>
            </a:pPr>
            <a:r>
              <a:rPr lang="en-US" sz="105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响应式布局适配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48920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BuySomething 校园二手交易平台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2F3C7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  未来规划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ROADMAP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411480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371600"/>
            <a:ext cx="4114800" cy="420624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389888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P1  重点推进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30352" y="1883664"/>
            <a:ext cx="164592" cy="164592"/>
          </a:xfrm>
          <a:prstGeom prst="ellipse">
            <a:avLst/>
          </a:prstGeom>
          <a:solidFill>
            <a:srgbClr val="00B894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1847088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商品评价系统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468880" y="1847088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买家评分与评论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30352" y="2185416"/>
            <a:ext cx="164592" cy="164592"/>
          </a:xfrm>
          <a:prstGeom prst="ellipse">
            <a:avLst/>
          </a:prstGeom>
          <a:solidFill>
            <a:srgbClr val="00B894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2148840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商品收藏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468880" y="214884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收藏夹功能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30352" y="2487168"/>
            <a:ext cx="164592" cy="164592"/>
          </a:xfrm>
          <a:prstGeom prst="ellipse">
            <a:avLst/>
          </a:prstGeom>
          <a:solidFill>
            <a:srgbClr val="00B894"/>
          </a:solidFill>
          <a:ln/>
        </p:spPr>
      </p:sp>
      <p:sp>
        <p:nvSpPr>
          <p:cNvPr id="15" name="Text 13"/>
          <p:cNvSpPr/>
          <p:nvPr/>
        </p:nvSpPr>
        <p:spPr>
          <a:xfrm>
            <a:off x="786384" y="2450592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售后管理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468880" y="245059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退换货流程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30352" y="2788920"/>
            <a:ext cx="164592" cy="164592"/>
          </a:xfrm>
          <a:prstGeom prst="ellipse">
            <a:avLst/>
          </a:prstGeom>
          <a:solidFill>
            <a:srgbClr val="00B894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2752344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搜索历史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468880" y="275234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历史搜索记录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663440" y="1371600"/>
            <a:ext cx="411480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63440" y="1371600"/>
            <a:ext cx="4114800" cy="420624"/>
          </a:xfrm>
          <a:prstGeom prst="rect">
            <a:avLst/>
          </a:prstGeom>
          <a:solidFill>
            <a:srgbClr val="FDCB6E"/>
          </a:solidFill>
          <a:ln/>
        </p:spPr>
      </p:sp>
      <p:sp>
        <p:nvSpPr>
          <p:cNvPr id="22" name="Text 20"/>
          <p:cNvSpPr/>
          <p:nvPr/>
        </p:nvSpPr>
        <p:spPr>
          <a:xfrm>
            <a:off x="4663440" y="1389888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P2  远期规划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4828032" y="1883664"/>
            <a:ext cx="164592" cy="164592"/>
          </a:xfrm>
          <a:prstGeom prst="ellipse">
            <a:avLst/>
          </a:prstGeom>
          <a:solidFill>
            <a:srgbClr val="F39C12"/>
          </a:solidFill>
          <a:ln/>
        </p:spPr>
      </p:sp>
      <p:sp>
        <p:nvSpPr>
          <p:cNvPr id="24" name="Text 22"/>
          <p:cNvSpPr/>
          <p:nvPr/>
        </p:nvSpPr>
        <p:spPr>
          <a:xfrm>
            <a:off x="5084064" y="1847088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优惠券系统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766560" y="1847088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满减/折扣券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828032" y="2185416"/>
            <a:ext cx="164592" cy="164592"/>
          </a:xfrm>
          <a:prstGeom prst="ellipse">
            <a:avLst/>
          </a:prstGeom>
          <a:solidFill>
            <a:srgbClr val="F39C12"/>
          </a:solidFill>
          <a:ln/>
        </p:spPr>
      </p:sp>
      <p:sp>
        <p:nvSpPr>
          <p:cNvPr id="27" name="Text 25"/>
          <p:cNvSpPr/>
          <p:nvPr/>
        </p:nvSpPr>
        <p:spPr>
          <a:xfrm>
            <a:off x="5084064" y="2148840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积分商城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766560" y="214884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积分兑换商品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828032" y="2487168"/>
            <a:ext cx="164592" cy="164592"/>
          </a:xfrm>
          <a:prstGeom prst="ellipse">
            <a:avLst/>
          </a:prstGeom>
          <a:solidFill>
            <a:srgbClr val="F39C12"/>
          </a:solidFill>
          <a:ln/>
        </p:spPr>
      </p:sp>
      <p:sp>
        <p:nvSpPr>
          <p:cNvPr id="30" name="Text 28"/>
          <p:cNvSpPr/>
          <p:nvPr/>
        </p:nvSpPr>
        <p:spPr>
          <a:xfrm>
            <a:off x="5084064" y="2450592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物流跟踪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766560" y="245059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订单物流查询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828032" y="2788920"/>
            <a:ext cx="164592" cy="164592"/>
          </a:xfrm>
          <a:prstGeom prst="ellipse">
            <a:avLst/>
          </a:prstGeom>
          <a:solidFill>
            <a:srgbClr val="F39C12"/>
          </a:solidFill>
          <a:ln/>
        </p:spPr>
      </p:sp>
      <p:sp>
        <p:nvSpPr>
          <p:cNvPr id="33" name="Text 31"/>
          <p:cNvSpPr/>
          <p:nvPr/>
        </p:nvSpPr>
        <p:spPr>
          <a:xfrm>
            <a:off x="5084064" y="2752344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消息通知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766560" y="275234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站内信推送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65760" y="3337560"/>
            <a:ext cx="841248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548640" y="3456432"/>
            <a:ext cx="80467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2F3C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更多规划方向
</a:t>
            </a:r>
            <a:r>
              <a:rPr lang="en-US" sz="1150" b="1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性能优化</a:t>
            </a:r>
            <a:r>
              <a:rPr lang="en-US" sz="100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图片懒加载 · 分页加载 · CDN加速 · 数据缓存
</a:t>
            </a:r>
            <a:endParaRPr lang="en-US" sz="1400" dirty="0"/>
          </a:p>
          <a:p>
            <a:pPr marL="0" indent="0">
              <a:buNone/>
            </a:pPr>
            <a:r>
              <a:rPr lang="en-US" sz="1150" b="1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安全加固</a:t>
            </a:r>
            <a:r>
              <a:rPr lang="en-US" sz="100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真实短信通道 · 登录限频 · JWT Token · 强制HTTPS
</a:t>
            </a:r>
            <a:endParaRPr lang="en-US" sz="1400" dirty="0"/>
          </a:p>
          <a:p>
            <a:pPr marL="0" indent="0">
              <a:buNone/>
            </a:pPr>
            <a:r>
              <a:rPr lang="en-US" sz="1150" b="1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运营功能</a:t>
            </a:r>
            <a:r>
              <a:rPr lang="en-US" sz="100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数据分析仪表盘 · 商家佣金抽成 · 限时活动专区 · VIP会员体系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457200" y="48920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BuySomething 校园二手交易平台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4572000" cy="4572000"/>
          </a:xfrm>
          <a:prstGeom prst="ellipse">
            <a:avLst/>
          </a:prstGeom>
          <a:solidFill>
            <a:srgbClr val="F96167">
              <a:alpha val="8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900000">
            <a:off x="6400800" y="2743200"/>
            <a:ext cx="3657600" cy="2743200"/>
          </a:xfrm>
          <a:prstGeom prst="rect">
            <a:avLst/>
          </a:prstGeom>
          <a:solidFill>
            <a:srgbClr val="2F3C7E">
              <a:alpha val="8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感谢聆听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F961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200400" y="3200400"/>
            <a:ext cx="2743200" cy="36576"/>
          </a:xfrm>
          <a:prstGeom prst="rect">
            <a:avLst/>
          </a:prstGeom>
          <a:solidFill>
            <a:srgbClr val="FFD93D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33832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AAAA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BuySomething 开发团队
</a:t>
            </a:r>
            <a:r>
              <a:rPr lang="en-US" sz="1300" dirty="0">
                <a:solidFill>
                  <a:srgbClr val="8888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欢迎提问与交流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730</Words>
  <Application>Microsoft Office PowerPoint</Application>
  <PresentationFormat>全屏显示(16:9)</PresentationFormat>
  <Paragraphs>217</Paragraphs>
  <Slides>14</Slides>
  <Notes>14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18" baseType="lpstr">
      <vt:lpstr>Microsoft YaHei</vt:lpstr>
      <vt:lpstr>Arial</vt:lpstr>
      <vt:lpstr>Consolas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BuySomething 商城项目答辩</dc:title>
  <dc:subject>微信小程序商城项目</dc:subject>
  <dc:creator>BuySomething 开发团队</dc:creator>
  <cp:lastModifiedBy>1 1</cp:lastModifiedBy>
  <cp:revision>2</cp:revision>
  <dcterms:created xsi:type="dcterms:W3CDTF">2026-05-12T15:20:08Z</dcterms:created>
  <dcterms:modified xsi:type="dcterms:W3CDTF">2026-05-12T15:24:56Z</dcterms:modified>
</cp:coreProperties>
</file>